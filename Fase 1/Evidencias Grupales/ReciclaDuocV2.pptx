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s3eciI+MvW+2pw4Ygz2MXWh3J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33FD576-60EA-405E-8EA6-C34B07A87BF1}">
  <a:tblStyle styleId="{233FD576-60EA-405E-8EA6-C34B07A87BF1}" styleName="Table_0">
    <a:wholeTbl>
      <a:tcTxStyle b="off" i="off">
        <a:font>
          <a:latin typeface="Trebuchet MS"/>
          <a:ea typeface="Trebuchet MS"/>
          <a:cs typeface="Trebuchet M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EF4E7"/>
          </a:solidFill>
        </a:fill>
      </a:tcStyle>
    </a:wholeTbl>
    <a:band1H>
      <a:tcTxStyle b="off" i="off"/>
      <a:tcStyle>
        <a:fill>
          <a:solidFill>
            <a:srgbClr val="DBE9CB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BE9CB"/>
          </a:solidFill>
        </a:fill>
      </a:tcStyle>
    </a:band1V>
    <a:band2V>
      <a:tcTxStyle b="off" i="off"/>
    </a:band2V>
    <a:la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11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Google Shape;24;p11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" name="Google Shape;25;p11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" name="Google Shape;26;p11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411"/>
              </a:schemeClr>
            </a:solidFill>
            <a:ln>
              <a:noFill/>
            </a:ln>
          </p:spPr>
        </p:sp>
        <p:sp>
          <p:nvSpPr>
            <p:cNvPr id="27" name="Google Shape;27;p11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28" name="Google Shape;28;p11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37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1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411"/>
              </a:srgbClr>
            </a:solidFill>
            <a:ln>
              <a:noFill/>
            </a:ln>
          </p:spPr>
        </p:sp>
        <p:sp>
          <p:nvSpPr>
            <p:cNvPr id="30" name="Google Shape;30;p11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411"/>
              </a:srgbClr>
            </a:solidFill>
            <a:ln>
              <a:noFill/>
            </a:ln>
          </p:spPr>
        </p:sp>
        <p:sp>
          <p:nvSpPr>
            <p:cNvPr id="31" name="Google Shape;31;p11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313"/>
              </a:schemeClr>
            </a:solidFill>
            <a:ln>
              <a:noFill/>
            </a:ln>
          </p:spPr>
        </p:sp>
        <p:sp>
          <p:nvSpPr>
            <p:cNvPr id="32" name="Google Shape;32;p11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1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11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2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" type="body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1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2" type="body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1" name="Google Shape;61;p15"/>
          <p:cNvSpPr txBox="1"/>
          <p:nvPr>
            <p:ph idx="2" type="body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3" type="body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3" name="Google Shape;63;p15"/>
          <p:cNvSpPr txBox="1"/>
          <p:nvPr>
            <p:ph idx="4" type="body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2" type="body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80" name="Google Shape;80;p1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/>
          <p:nvPr>
            <p:ph idx="2" type="pic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9"/>
          <p:cNvSpPr txBox="1"/>
          <p:nvPr>
            <p:ph idx="1" type="body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7" name="Google Shape;87;p1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2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" type="body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2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2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103" name="Google Shape;103;p21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s-CL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s-CL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800" u="none" cap="none" strike="noStrike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p2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la tarjeta de nombre">
  <p:cSld name="Citar la tarjeta de nombre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2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118" name="Google Shape;118;p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s-CL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3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s-CL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ro o falso">
  <p:cSld name="Verdadero o falso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2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0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" name="Google Shape;7;p10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" name="Google Shape;8;p10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" name="Google Shape;9;p10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411"/>
              </a:schemeClr>
            </a:solidFill>
            <a:ln>
              <a:noFill/>
            </a:ln>
          </p:spPr>
        </p:sp>
        <p:sp>
          <p:nvSpPr>
            <p:cNvPr id="10" name="Google Shape;10;p10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1" name="Google Shape;11;p10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37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0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411"/>
              </a:srgbClr>
            </a:solidFill>
            <a:ln>
              <a:noFill/>
            </a:ln>
          </p:spPr>
        </p:sp>
        <p:sp>
          <p:nvSpPr>
            <p:cNvPr id="13" name="Google Shape;13;p10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411"/>
              </a:srgbClr>
            </a:solidFill>
            <a:ln>
              <a:noFill/>
            </a:ln>
          </p:spPr>
        </p:sp>
        <p:sp>
          <p:nvSpPr>
            <p:cNvPr id="14" name="Google Shape;14;p10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313"/>
              </a:schemeClr>
            </a:solidFill>
            <a:ln>
              <a:noFill/>
            </a:ln>
          </p:spPr>
        </p:sp>
        <p:sp>
          <p:nvSpPr>
            <p:cNvPr id="15" name="Google Shape;15;p1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0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1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" name="Google Shape;19;p1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0" name="Google Shape;20;p1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1" name="Google Shape;21;p1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3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1.png"/><Relationship Id="rId7" Type="http://schemas.openxmlformats.org/officeDocument/2006/relationships/image" Target="../media/image12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67" y="3534232"/>
            <a:ext cx="2372298" cy="237229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</a:pPr>
            <a:r>
              <a:rPr lang="es-CL"/>
              <a:t>ReciclaDuoc</a:t>
            </a:r>
            <a:endParaRPr/>
          </a:p>
        </p:txBody>
      </p:sp>
      <p:sp>
        <p:nvSpPr>
          <p:cNvPr id="145" name="Google Shape;145;p1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s-CL"/>
              <a:t>Incentivos para un campus más verde</a:t>
            </a:r>
            <a:endParaRPr/>
          </a:p>
        </p:txBody>
      </p:sp>
      <p:pic>
        <p:nvPicPr>
          <p:cNvPr id="146" name="Google Shape;14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6310" y="3612122"/>
            <a:ext cx="2294408" cy="2294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CL"/>
              <a:t>Problema Actual</a:t>
            </a:r>
            <a:endParaRPr/>
          </a:p>
        </p:txBody>
      </p:sp>
      <p:sp>
        <p:nvSpPr>
          <p:cNvPr id="152" name="Google Shape;152;p2"/>
          <p:cNvSpPr txBox="1"/>
          <p:nvPr>
            <p:ph idx="1" type="body"/>
          </p:nvPr>
        </p:nvSpPr>
        <p:spPr>
          <a:xfrm>
            <a:off x="542863" y="1488613"/>
            <a:ext cx="8596668" cy="5136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s-CL"/>
              <a:t>En Chile se recicla </a:t>
            </a:r>
            <a:r>
              <a:rPr i="1" lang="es-CL"/>
              <a:t>menos del 10%</a:t>
            </a:r>
            <a:r>
              <a:rPr lang="es-CL"/>
              <a:t> de los residuos domiciliarios. La falta de infraestructura, educación ambiental y sistemas de recolección diferenciada limita el avance hacia una economía circular, desperdiciando recursos y aumentando el impacto ambiental.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CL"/>
              <a:t>Si bien nuestra sede posee contenedores de reciclaje distinguidos por tipo de material, ¿se han preguntado más allá?</a:t>
            </a:r>
            <a:br>
              <a:rPr lang="es-CL"/>
            </a:br>
            <a:br>
              <a:rPr lang="es-CL"/>
            </a:br>
            <a:r>
              <a:rPr lang="es-CL"/>
              <a:t>- ¿Cuánto reciclamos en nuestra sede y como ha variado en el tiempo?</a:t>
            </a:r>
            <a:br>
              <a:rPr lang="es-CL"/>
            </a:br>
            <a:br>
              <a:rPr lang="es-CL"/>
            </a:br>
            <a:r>
              <a:rPr lang="es-CL"/>
              <a:t>- ¿Qué impacto positivo medible estamos generando en la sustentabilidad          institucional?</a:t>
            </a:r>
            <a:br>
              <a:rPr lang="es-CL"/>
            </a:br>
            <a:br>
              <a:rPr lang="es-CL"/>
            </a:br>
            <a:r>
              <a:rPr lang="es-CL"/>
              <a:t>- ¿Disponemos de datos actualizados y confiables para evaluar estos avances?</a:t>
            </a:r>
            <a:br>
              <a:rPr lang="es-CL"/>
            </a:br>
            <a:br>
              <a:rPr lang="es-CL"/>
            </a:br>
            <a:r>
              <a:rPr lang="es-CL"/>
              <a:t>- ¿Se comunican estos resultados a la comunidad estudiantil y docente?</a:t>
            </a:r>
            <a:br>
              <a:rPr lang="es-CL"/>
            </a:br>
            <a:br>
              <a:rPr lang="es-CL"/>
            </a:br>
            <a:r>
              <a:rPr lang="es-CL"/>
              <a:t>- ¿Qué oportunidades estamos perdiendo por no contar con métricas claras?</a:t>
            </a:r>
            <a:endParaRPr/>
          </a:p>
        </p:txBody>
      </p:sp>
      <p:pic>
        <p:nvPicPr>
          <p:cNvPr id="153" name="Google Shape;15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57831" y="3590671"/>
            <a:ext cx="1232342" cy="1232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CL"/>
              <a:t>Oportunidad</a:t>
            </a:r>
            <a:endParaRPr/>
          </a:p>
        </p:txBody>
      </p:sp>
      <p:pic>
        <p:nvPicPr>
          <p:cNvPr id="159" name="Google Shape;159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7035" y="1751508"/>
            <a:ext cx="4614205" cy="3459085"/>
          </a:xfrm>
          <a:prstGeom prst="rect">
            <a:avLst/>
          </a:prstGeom>
          <a:noFill/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</p:pic>
      <p:sp>
        <p:nvSpPr>
          <p:cNvPr id="160" name="Google Shape;160;p3"/>
          <p:cNvSpPr txBox="1"/>
          <p:nvPr/>
        </p:nvSpPr>
        <p:spPr>
          <a:xfrm>
            <a:off x="0" y="3481051"/>
            <a:ext cx="2277035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rgbClr val="00B0F0"/>
                </a:solidFill>
                <a:latin typeface="Trebuchet MS"/>
                <a:ea typeface="Trebuchet MS"/>
                <a:cs typeface="Trebuchet MS"/>
                <a:sym typeface="Trebuchet MS"/>
              </a:rPr>
              <a:t>Cultura Digital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3757796" y="5210593"/>
            <a:ext cx="1652681" cy="1612738"/>
          </a:xfrm>
          <a:prstGeom prst="mathPlus">
            <a:avLst>
              <a:gd fmla="val 23520" name="adj1"/>
            </a:avLst>
          </a:prstGeom>
          <a:solidFill>
            <a:schemeClr val="accent1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6891240" y="3481051"/>
            <a:ext cx="3307977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rgbClr val="00B0F0"/>
                </a:solidFill>
                <a:latin typeface="Trebuchet MS"/>
                <a:ea typeface="Trebuchet MS"/>
                <a:cs typeface="Trebuchet MS"/>
                <a:sym typeface="Trebuchet MS"/>
              </a:rPr>
              <a:t>Compromiso Ambiental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CL"/>
              <a:t>Solución</a:t>
            </a:r>
            <a:endParaRPr/>
          </a:p>
        </p:txBody>
      </p:sp>
      <p:pic>
        <p:nvPicPr>
          <p:cNvPr id="168" name="Google Shape;168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997" y="1756709"/>
            <a:ext cx="2880658" cy="4320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1294" y="1166157"/>
            <a:ext cx="3573432" cy="5360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9630" y="1755073"/>
            <a:ext cx="2995551" cy="449332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4"/>
          <p:cNvSpPr txBox="1"/>
          <p:nvPr/>
        </p:nvSpPr>
        <p:spPr>
          <a:xfrm>
            <a:off x="1115783" y="1452282"/>
            <a:ext cx="1561021" cy="376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B0F0"/>
                </a:solidFill>
                <a:latin typeface="Trebuchet MS"/>
                <a:ea typeface="Trebuchet MS"/>
                <a:cs typeface="Trebuchet MS"/>
                <a:sym typeface="Trebuchet MS"/>
              </a:rPr>
              <a:t>RECICLAR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3730003" y="981491"/>
            <a:ext cx="19132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B0F0"/>
                </a:solidFill>
                <a:latin typeface="Trebuchet MS"/>
                <a:ea typeface="Trebuchet MS"/>
                <a:cs typeface="Trebuchet MS"/>
                <a:sym typeface="Trebuchet MS"/>
              </a:rPr>
              <a:t>JUNTAR PUNTOS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6546046" y="1570407"/>
            <a:ext cx="22853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B0F0"/>
                </a:solidFill>
                <a:latin typeface="Trebuchet MS"/>
                <a:ea typeface="Trebuchet MS"/>
                <a:cs typeface="Trebuchet MS"/>
                <a:sym typeface="Trebuchet MS"/>
              </a:rPr>
              <a:t>CANJEAR PREMIOS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" name="Google Shape;174;p4"/>
          <p:cNvCxnSpPr/>
          <p:nvPr/>
        </p:nvCxnSpPr>
        <p:spPr>
          <a:xfrm flipH="1" rot="10800000">
            <a:off x="2236000" y="1132051"/>
            <a:ext cx="1295100" cy="583500"/>
          </a:xfrm>
          <a:prstGeom prst="curvedConnector3">
            <a:avLst>
              <a:gd fmla="val 50000" name="adj1"/>
            </a:avLst>
          </a:prstGeom>
          <a:noFill/>
          <a:ln cap="rnd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5" name="Google Shape;175;p4"/>
          <p:cNvCxnSpPr/>
          <p:nvPr/>
        </p:nvCxnSpPr>
        <p:spPr>
          <a:xfrm>
            <a:off x="5575615" y="1159035"/>
            <a:ext cx="911700" cy="596100"/>
          </a:xfrm>
          <a:prstGeom prst="curvedConnector3">
            <a:avLst>
              <a:gd fmla="val 50000" name="adj1"/>
            </a:avLst>
          </a:prstGeom>
          <a:noFill/>
          <a:ln cap="rnd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CL"/>
              <a:t>Tecnologías Trabajadas</a:t>
            </a:r>
            <a:endParaRPr/>
          </a:p>
        </p:txBody>
      </p:sp>
      <p:graphicFrame>
        <p:nvGraphicFramePr>
          <p:cNvPr id="181" name="Google Shape;181;p5"/>
          <p:cNvGraphicFramePr/>
          <p:nvPr/>
        </p:nvGraphicFramePr>
        <p:xfrm>
          <a:off x="282888" y="14223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{233FD576-60EA-405E-8EA6-C34B07A87BF1}</a:tableStyleId>
              </a:tblPr>
              <a:tblGrid>
                <a:gridCol w="3663250"/>
                <a:gridCol w="3663250"/>
                <a:gridCol w="3663250"/>
              </a:tblGrid>
              <a:tr h="31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Categoría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Tecnología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Propósito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35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Frontend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Construcción de interfaz dinámica y responsiva.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76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Backend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                            + Express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API REST para lógica del servidor y conexión con Base de datos.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76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Base de Datos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Almacenamiento estructurado de usuarios, reciclaje, puntos.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76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Estilos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               Tailwind CSS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Diseño visual, responsividad y coherencia estética.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35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Control de versiones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                       + 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Colaboración, historial de cambios y despliegue.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35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Gestion de tareas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             Trello / Notion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Organización de tareas con metodología Kanban.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76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Despliegue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              Vercel / Render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Hosting de frontend y backend para acceso publico.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182" name="Google Shape;18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7900" y="1837840"/>
            <a:ext cx="619707" cy="588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3201" y="2426561"/>
            <a:ext cx="1042700" cy="637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74287" y="3311590"/>
            <a:ext cx="1053072" cy="544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25970" y="3931061"/>
            <a:ext cx="609524" cy="60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2782" y="4740688"/>
            <a:ext cx="940667" cy="544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53585" y="4749750"/>
            <a:ext cx="547547" cy="535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04899" y="5435602"/>
            <a:ext cx="535007" cy="535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30732" y="5416828"/>
            <a:ext cx="857418" cy="476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068941" y="5893171"/>
            <a:ext cx="770965" cy="770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27069" y="6248400"/>
            <a:ext cx="861081" cy="164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CL"/>
              <a:t>Metodología de Trabajo: Kanban</a:t>
            </a:r>
            <a:endParaRPr/>
          </a:p>
        </p:txBody>
      </p:sp>
      <p:sp>
        <p:nvSpPr>
          <p:cNvPr id="197" name="Google Shape;197;p6"/>
          <p:cNvSpPr txBox="1"/>
          <p:nvPr>
            <p:ph idx="1" type="body"/>
          </p:nvPr>
        </p:nvSpPr>
        <p:spPr>
          <a:xfrm>
            <a:off x="677334" y="1640541"/>
            <a:ext cx="8596668" cy="440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es-CL"/>
              <a:t>Qué es Kanban?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es-CL"/>
              <a:t>Método visual para gestionar tareas y flujos de trabajo.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es-CL"/>
              <a:t>Permite flexibilidad, autonomía y seguimiento continuo.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es-CL"/>
              <a:t>Ideal para equipos pequeños y proyectos dinámicos.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es-CL"/>
              <a:t>Reuniones breves para revisar avances y ajustar prioridades.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s-CL"/>
              <a:t> ¿Cómo lo aplicamos?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s-CL"/>
              <a:t>	Usamos </a:t>
            </a:r>
            <a:r>
              <a:rPr lang="es-CL" u="sng"/>
              <a:t>Trello</a:t>
            </a:r>
            <a:r>
              <a:rPr lang="es-CL"/>
              <a:t> para organizar tareas en columnas: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1" lang="es-CL"/>
              <a:t>Por hacer (To Do)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1" lang="es-CL"/>
              <a:t>En progreso (In Progress)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1" lang="es-CL"/>
              <a:t>Finalizado (Done)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s-CL"/>
              <a:t>	Cada integrante asumirá tareas según sus fortalezas: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s-CL"/>
              <a:t>Diseño UI, desarrollo frontend, backend, documentación.</a:t>
            </a:r>
            <a:endParaRPr/>
          </a:p>
          <a:p>
            <a:pPr indent="-258318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CL"/>
              <a:t>Roles del Equipo</a:t>
            </a:r>
            <a:endParaRPr/>
          </a:p>
        </p:txBody>
      </p:sp>
      <p:graphicFrame>
        <p:nvGraphicFramePr>
          <p:cNvPr id="203" name="Google Shape;203;p7"/>
          <p:cNvGraphicFramePr/>
          <p:nvPr/>
        </p:nvGraphicFramePr>
        <p:xfrm>
          <a:off x="919038" y="13846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{233FD576-60EA-405E-8EA6-C34B07A87BF1}</a:tableStyleId>
              </a:tblPr>
              <a:tblGrid>
                <a:gridCol w="2865425"/>
                <a:gridCol w="2865425"/>
                <a:gridCol w="28654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Integrante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Rol Principal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Responsabilidades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Benjamín López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Líder de proyecto &amp; UI/UX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Coordinación general, diseño de interfaz, presentación, métricas de impacto.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Irvin Cribillero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Backend Developer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Desarrollo de API con Node.js, conexión con MySQL, lógica de puntos y reciclaje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Daniel Gutiérrez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Frontend Developer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Implementación en React, integración con API, visualización de datos y ranking.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Rodrigo Véliz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Testing y </a:t>
                      </a:r>
                      <a:r>
                        <a:rPr lang="es-CL" sz="1800"/>
                        <a:t>Documentación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Coordinador de pruebas, prototipos y </a:t>
                      </a:r>
                      <a:r>
                        <a:rPr lang="es-CL" sz="1800"/>
                        <a:t>documentación</a:t>
                      </a:r>
                      <a:r>
                        <a:rPr lang="es-CL" sz="1800"/>
                        <a:t> de usabilidad.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 txBox="1"/>
          <p:nvPr>
            <p:ph type="title"/>
          </p:nvPr>
        </p:nvSpPr>
        <p:spPr>
          <a:xfrm>
            <a:off x="677691" y="89648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CL"/>
              <a:t>Propuesta inicial Base de Datos	</a:t>
            </a:r>
            <a:endParaRPr/>
          </a:p>
        </p:txBody>
      </p:sp>
      <p:graphicFrame>
        <p:nvGraphicFramePr>
          <p:cNvPr id="209" name="Google Shape;209;p8"/>
          <p:cNvGraphicFramePr/>
          <p:nvPr/>
        </p:nvGraphicFramePr>
        <p:xfrm>
          <a:off x="677691" y="8404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{233FD576-60EA-405E-8EA6-C34B07A87BF1}</a:tableStyleId>
              </a:tblPr>
              <a:tblGrid>
                <a:gridCol w="2865425"/>
                <a:gridCol w="2865425"/>
                <a:gridCol w="28654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Tabla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Descripción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Campos clave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usuario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Registro de participantes en la app.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id_usuario, nombre, email, puntos, nivel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reciclaje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Historial de acciones de reciclaje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id_reciclaje, id_usuario, tipo_material, cantidad, fecha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material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Catálogo de materiales reciclables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id_material, nombre, valor_punto, imagen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ranking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Posición de usuarios según puntos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Id_usuario, puntos_totales, posición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centro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Información de puntos de reciclaje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id_centro, nombre, tipo_centro, dirección, comuna, región, latitud, longitud, estado, creado_en, actualizado_en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deposito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Registra depósito de material validado por QR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/>
                        <a:t>id, id_usuario, id_centro, código_qr, fecha_hora, validado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CL"/>
              <a:t>Funcionalidades clave</a:t>
            </a:r>
            <a:endParaRPr/>
          </a:p>
        </p:txBody>
      </p:sp>
      <p:pic>
        <p:nvPicPr>
          <p:cNvPr id="215" name="Google Shape;215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2725" y="503178"/>
            <a:ext cx="4165600" cy="41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9"/>
          <p:cNvSpPr txBox="1"/>
          <p:nvPr/>
        </p:nvSpPr>
        <p:spPr>
          <a:xfrm>
            <a:off x="354099" y="1250622"/>
            <a:ext cx="51279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0" i="0" lang="es-CL" sz="1800" u="sng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Núcleo de experiencia</a:t>
            </a:r>
            <a:br>
              <a:rPr b="0" i="0" lang="es-CL" sz="1800" u="sng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b="0" i="0" sz="1800" u="sng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Registro rápido y seguro</a:t>
            </a:r>
            <a:r>
              <a:rPr b="0" i="0" lang="es-CL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 creación de cuenta con validación simple y vinculación al perfil institucional o personal.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Escaneo de código QR/NFC</a:t>
            </a:r>
            <a:r>
              <a:rPr b="0" i="0" lang="es-CL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en puntos de reciclaje para acreditar depósitos de material.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Sistema de puntos dinámico</a:t>
            </a:r>
            <a:r>
              <a:rPr b="0" i="0" lang="es-CL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 acumulación automática según cantidad, tipo de residuo y frecuencia.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7" name="Google Shape;217;p9"/>
          <p:cNvSpPr txBox="1"/>
          <p:nvPr/>
        </p:nvSpPr>
        <p:spPr>
          <a:xfrm>
            <a:off x="358602" y="4037717"/>
            <a:ext cx="5327823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sng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Motivación y progreso</a:t>
            </a:r>
            <a:br>
              <a:rPr b="0" i="0" lang="es-CL" sz="1800" u="sng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br>
              <a:rPr b="0" i="0" lang="es-CL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i="0" lang="es-CL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Tablero de impacto personal: </a:t>
            </a:r>
            <a:r>
              <a:rPr b="0" i="0" lang="es-CL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muestra CO₂ ahorrado, residuos desviados de vertedero y ranking frente a otros usuarios.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Ranking y retos comunitarios: </a:t>
            </a:r>
            <a:r>
              <a:rPr b="0" i="0" lang="es-CL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comparativas por campus, facultad o grupos de interés.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Premios y catálogo canjeable: </a:t>
            </a:r>
            <a:r>
              <a:rPr b="0" i="0" lang="es-CL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listado actualizado con canjes disponibles y puntos requeridos.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5686425" y="4447630"/>
            <a:ext cx="3867150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sng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Educación y engagement</a:t>
            </a:r>
            <a:br>
              <a:rPr b="0" i="0" lang="es-CL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Tips y micro-retos</a:t>
            </a:r>
            <a:r>
              <a:rPr b="0" i="0" lang="es-CL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 contenidos cortos sobre reciclaje, reutilización y reducción de residuos.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Notificaciones inteligentes</a:t>
            </a:r>
            <a:r>
              <a:rPr b="0" i="0" lang="es-CL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 recordatorios de canje, nuevos retos o eventos de reciclaje.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aceta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2025-08-13T22:52:05Z</dcterms:created>
  <dc:creator>Benjamín López Barra</dc:creator>
</cp:coreProperties>
</file>